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704"/>
  </p:normalViewPr>
  <p:slideViewPr>
    <p:cSldViewPr snapToGrid="0">
      <p:cViewPr varScale="1">
        <p:scale>
          <a:sx n="105" d="100"/>
          <a:sy n="105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04:37:01.79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04:38:11.43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0T04:38:46.63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6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14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151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43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48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83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8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6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28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7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5/20/25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15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Applications/Visual%20Studio%20Code.app/Contents/Resources/app/out/vs/code/electron-sandbox/workbench/workbench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4F87819-B70D-4927-B657-7D175613F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B3820D-C773-4632-9F79-C890E1B2B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177668"/>
          </a:xfrm>
          <a:custGeom>
            <a:avLst/>
            <a:gdLst>
              <a:gd name="connsiteX0" fmla="*/ 6861986 w 12191999"/>
              <a:gd name="connsiteY0" fmla="*/ 6107659 h 6177668"/>
              <a:gd name="connsiteX1" fmla="*/ 6860986 w 12191999"/>
              <a:gd name="connsiteY1" fmla="*/ 6107739 h 6177668"/>
              <a:gd name="connsiteX2" fmla="*/ 6860759 w 12191999"/>
              <a:gd name="connsiteY2" fmla="*/ 6108287 h 6177668"/>
              <a:gd name="connsiteX3" fmla="*/ 0 w 12191999"/>
              <a:gd name="connsiteY3" fmla="*/ 0 h 6177668"/>
              <a:gd name="connsiteX4" fmla="*/ 12191999 w 12191999"/>
              <a:gd name="connsiteY4" fmla="*/ 0 h 6177668"/>
              <a:gd name="connsiteX5" fmla="*/ 12191999 w 12191999"/>
              <a:gd name="connsiteY5" fmla="*/ 5215324 h 6177668"/>
              <a:gd name="connsiteX6" fmla="*/ 12144282 w 12191999"/>
              <a:gd name="connsiteY6" fmla="*/ 5229900 h 6177668"/>
              <a:gd name="connsiteX7" fmla="*/ 11759192 w 12191999"/>
              <a:gd name="connsiteY7" fmla="*/ 5336208 h 6177668"/>
              <a:gd name="connsiteX8" fmla="*/ 10505159 w 12191999"/>
              <a:gd name="connsiteY8" fmla="*/ 5627228 h 6177668"/>
              <a:gd name="connsiteX9" fmla="*/ 9501755 w 12191999"/>
              <a:gd name="connsiteY9" fmla="*/ 5807012 h 6177668"/>
              <a:gd name="connsiteX10" fmla="*/ 8534155 w 12191999"/>
              <a:gd name="connsiteY10" fmla="*/ 5944240 h 6177668"/>
              <a:gd name="connsiteX11" fmla="*/ 7790171 w 12191999"/>
              <a:gd name="connsiteY11" fmla="*/ 6026297 h 6177668"/>
              <a:gd name="connsiteX12" fmla="*/ 7024337 w 12191999"/>
              <a:gd name="connsiteY12" fmla="*/ 6093812 h 6177668"/>
              <a:gd name="connsiteX13" fmla="*/ 7008892 w 12191999"/>
              <a:gd name="connsiteY13" fmla="*/ 6095938 h 6177668"/>
              <a:gd name="connsiteX14" fmla="*/ 6862735 w 12191999"/>
              <a:gd name="connsiteY14" fmla="*/ 6107599 h 6177668"/>
              <a:gd name="connsiteX15" fmla="*/ 6872248 w 12191999"/>
              <a:gd name="connsiteY15" fmla="*/ 6109467 h 6177668"/>
              <a:gd name="connsiteX16" fmla="*/ 6907812 w 12191999"/>
              <a:gd name="connsiteY16" fmla="*/ 6107715 h 6177668"/>
              <a:gd name="connsiteX17" fmla="*/ 6956484 w 12191999"/>
              <a:gd name="connsiteY17" fmla="*/ 6104658 h 6177668"/>
              <a:gd name="connsiteX18" fmla="*/ 7652688 w 12191999"/>
              <a:gd name="connsiteY18" fmla="*/ 6071273 h 6177668"/>
              <a:gd name="connsiteX19" fmla="*/ 8699923 w 12191999"/>
              <a:gd name="connsiteY19" fmla="*/ 5982083 h 6177668"/>
              <a:gd name="connsiteX20" fmla="*/ 9557819 w 12191999"/>
              <a:gd name="connsiteY20" fmla="*/ 5875435 h 6177668"/>
              <a:gd name="connsiteX21" fmla="*/ 10709534 w 12191999"/>
              <a:gd name="connsiteY21" fmla="*/ 5676156 h 6177668"/>
              <a:gd name="connsiteX22" fmla="*/ 12081554 w 12191999"/>
              <a:gd name="connsiteY22" fmla="*/ 5341561 h 6177668"/>
              <a:gd name="connsiteX23" fmla="*/ 12191999 w 12191999"/>
              <a:gd name="connsiteY23" fmla="*/ 5308238 h 6177668"/>
              <a:gd name="connsiteX24" fmla="*/ 12191999 w 12191999"/>
              <a:gd name="connsiteY24" fmla="*/ 5364054 h 6177668"/>
              <a:gd name="connsiteX25" fmla="*/ 11911964 w 12191999"/>
              <a:gd name="connsiteY25" fmla="*/ 5447316 h 6177668"/>
              <a:gd name="connsiteX26" fmla="*/ 11020049 w 12191999"/>
              <a:gd name="connsiteY26" fmla="*/ 5667491 h 6177668"/>
              <a:gd name="connsiteX27" fmla="*/ 10064425 w 12191999"/>
              <a:gd name="connsiteY27" fmla="*/ 5852245 h 6177668"/>
              <a:gd name="connsiteX28" fmla="*/ 9264124 w 12191999"/>
              <a:gd name="connsiteY28" fmla="*/ 5971252 h 6177668"/>
              <a:gd name="connsiteX29" fmla="*/ 8654182 w 12191999"/>
              <a:gd name="connsiteY29" fmla="*/ 6042605 h 6177668"/>
              <a:gd name="connsiteX30" fmla="*/ 7938866 w 12191999"/>
              <a:gd name="connsiteY30" fmla="*/ 6105677 h 6177668"/>
              <a:gd name="connsiteX31" fmla="*/ 7008089 w 12191999"/>
              <a:gd name="connsiteY31" fmla="*/ 6158427 h 6177668"/>
              <a:gd name="connsiteX32" fmla="*/ 6549390 w 12191999"/>
              <a:gd name="connsiteY32" fmla="*/ 6172697 h 6177668"/>
              <a:gd name="connsiteX33" fmla="*/ 6433696 w 12191999"/>
              <a:gd name="connsiteY33" fmla="*/ 6177668 h 6177668"/>
              <a:gd name="connsiteX34" fmla="*/ 6127899 w 12191999"/>
              <a:gd name="connsiteY34" fmla="*/ 6177668 h 6177668"/>
              <a:gd name="connsiteX35" fmla="*/ 6048391 w 12191999"/>
              <a:gd name="connsiteY35" fmla="*/ 6172953 h 6177668"/>
              <a:gd name="connsiteX36" fmla="*/ 5334221 w 12191999"/>
              <a:gd name="connsiteY36" fmla="*/ 6135747 h 6177668"/>
              <a:gd name="connsiteX37" fmla="*/ 4413510 w 12191999"/>
              <a:gd name="connsiteY37" fmla="*/ 6072039 h 6177668"/>
              <a:gd name="connsiteX38" fmla="*/ 3438265 w 12191999"/>
              <a:gd name="connsiteY38" fmla="*/ 5970870 h 6177668"/>
              <a:gd name="connsiteX39" fmla="*/ 2425303 w 12191999"/>
              <a:gd name="connsiteY39" fmla="*/ 5848805 h 6177668"/>
              <a:gd name="connsiteX40" fmla="*/ 1293973 w 12191999"/>
              <a:gd name="connsiteY40" fmla="*/ 5671060 h 6177668"/>
              <a:gd name="connsiteX41" fmla="*/ 126888 w 12191999"/>
              <a:gd name="connsiteY41" fmla="*/ 5425029 h 6177668"/>
              <a:gd name="connsiteX42" fmla="*/ 0 w 12191999"/>
              <a:gd name="connsiteY42" fmla="*/ 5392100 h 6177668"/>
              <a:gd name="connsiteX43" fmla="*/ 0 w 12191999"/>
              <a:gd name="connsiteY43" fmla="*/ 5333771 h 6177668"/>
              <a:gd name="connsiteX44" fmla="*/ 130837 w 12191999"/>
              <a:gd name="connsiteY44" fmla="*/ 5368509 h 6177668"/>
              <a:gd name="connsiteX45" fmla="*/ 660204 w 12191999"/>
              <a:gd name="connsiteY45" fmla="*/ 5490001 h 6177668"/>
              <a:gd name="connsiteX46" fmla="*/ 1831416 w 12191999"/>
              <a:gd name="connsiteY46" fmla="*/ 5705715 h 6177668"/>
              <a:gd name="connsiteX47" fmla="*/ 2677204 w 12191999"/>
              <a:gd name="connsiteY47" fmla="*/ 5825742 h 6177668"/>
              <a:gd name="connsiteX48" fmla="*/ 2644716 w 12191999"/>
              <a:gd name="connsiteY48" fmla="*/ 5815549 h 6177668"/>
              <a:gd name="connsiteX49" fmla="*/ 1173182 w 12191999"/>
              <a:gd name="connsiteY49" fmla="*/ 5474074 h 6177668"/>
              <a:gd name="connsiteX50" fmla="*/ 479527 w 12191999"/>
              <a:gd name="connsiteY50" fmla="*/ 5269379 h 6177668"/>
              <a:gd name="connsiteX51" fmla="*/ 0 w 12191999"/>
              <a:gd name="connsiteY51" fmla="*/ 5107083 h 617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E9E4-5EE8-3A65-1A4A-0B5F55045D2C}"/>
              </a:ext>
            </a:extLst>
          </p:cNvPr>
          <p:cNvPicPr>
            <a:picLocks noChangeAspect="1"/>
          </p:cNvPicPr>
          <p:nvPr/>
        </p:nvPicPr>
        <p:blipFill>
          <a:blip>
            <a:alphaModFix amt="55000"/>
          </a:blip>
          <a:srcRect r="1321" b="-1"/>
          <a:stretch>
            <a:fillRect/>
          </a:stretch>
        </p:blipFill>
        <p:spPr>
          <a:xfrm>
            <a:off x="20" y="10"/>
            <a:ext cx="12191979" cy="6177658"/>
          </a:xfrm>
          <a:custGeom>
            <a:avLst/>
            <a:gdLst/>
            <a:ahLst/>
            <a:cxnLst/>
            <a:rect l="l" t="t" r="r" b="b"/>
            <a:pathLst>
              <a:path w="12191999" h="6177668">
                <a:moveTo>
                  <a:pt x="6861986" y="6107659"/>
                </a:moveTo>
                <a:lnTo>
                  <a:pt x="6860986" y="6107739"/>
                </a:lnTo>
                <a:lnTo>
                  <a:pt x="6860759" y="6108287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215324"/>
                </a:lnTo>
                <a:lnTo>
                  <a:pt x="12144282" y="5229900"/>
                </a:lnTo>
                <a:cubicBezTo>
                  <a:pt x="12016423" y="5267070"/>
                  <a:pt x="11888048" y="5302510"/>
                  <a:pt x="11759192" y="5336208"/>
                </a:cubicBezTo>
                <a:cubicBezTo>
                  <a:pt x="11344324" y="5446552"/>
                  <a:pt x="10926015" y="5542623"/>
                  <a:pt x="10505159" y="5627228"/>
                </a:cubicBezTo>
                <a:cubicBezTo>
                  <a:pt x="10171926" y="5694160"/>
                  <a:pt x="9837459" y="5754097"/>
                  <a:pt x="9501755" y="5807012"/>
                </a:cubicBezTo>
                <a:cubicBezTo>
                  <a:pt x="9180066" y="5857979"/>
                  <a:pt x="8857537" y="5903722"/>
                  <a:pt x="8534155" y="5944240"/>
                </a:cubicBezTo>
                <a:cubicBezTo>
                  <a:pt x="8286585" y="5975202"/>
                  <a:pt x="8038506" y="6001450"/>
                  <a:pt x="7790171" y="6026297"/>
                </a:cubicBezTo>
                <a:lnTo>
                  <a:pt x="7024337" y="6093812"/>
                </a:lnTo>
                <a:lnTo>
                  <a:pt x="7008892" y="6095938"/>
                </a:lnTo>
                <a:lnTo>
                  <a:pt x="6862735" y="6107599"/>
                </a:lnTo>
                <a:lnTo>
                  <a:pt x="6872248" y="6109467"/>
                </a:lnTo>
                <a:cubicBezTo>
                  <a:pt x="6883954" y="6109945"/>
                  <a:pt x="6896090" y="6107715"/>
                  <a:pt x="6907812" y="6107715"/>
                </a:cubicBezTo>
                <a:cubicBezTo>
                  <a:pt x="6923994" y="6107715"/>
                  <a:pt x="6940176" y="6105039"/>
                  <a:pt x="6956484" y="6104658"/>
                </a:cubicBezTo>
                <a:cubicBezTo>
                  <a:pt x="7188765" y="6099052"/>
                  <a:pt x="7420790" y="6086564"/>
                  <a:pt x="7652688" y="6071273"/>
                </a:cubicBezTo>
                <a:cubicBezTo>
                  <a:pt x="8002191" y="6048212"/>
                  <a:pt x="8351439" y="6019289"/>
                  <a:pt x="8699923" y="5982083"/>
                </a:cubicBezTo>
                <a:cubicBezTo>
                  <a:pt x="8986610" y="5952012"/>
                  <a:pt x="9272570" y="5916463"/>
                  <a:pt x="9557819" y="5875435"/>
                </a:cubicBezTo>
                <a:cubicBezTo>
                  <a:pt x="9943546" y="5819627"/>
                  <a:pt x="10327451" y="5753205"/>
                  <a:pt x="10709534" y="5676156"/>
                </a:cubicBezTo>
                <a:cubicBezTo>
                  <a:pt x="11171292" y="5582632"/>
                  <a:pt x="11629098" y="5472289"/>
                  <a:pt x="12081554" y="5341561"/>
                </a:cubicBezTo>
                <a:lnTo>
                  <a:pt x="12191999" y="5308238"/>
                </a:lnTo>
                <a:lnTo>
                  <a:pt x="12191999" y="5364054"/>
                </a:lnTo>
                <a:lnTo>
                  <a:pt x="11911964" y="5447316"/>
                </a:lnTo>
                <a:cubicBezTo>
                  <a:pt x="11616866" y="5529116"/>
                  <a:pt x="11319604" y="5601872"/>
                  <a:pt x="11020049" y="5667491"/>
                </a:cubicBezTo>
                <a:cubicBezTo>
                  <a:pt x="10703036" y="5737061"/>
                  <a:pt x="10384496" y="5798641"/>
                  <a:pt x="10064425" y="5852245"/>
                </a:cubicBezTo>
                <a:cubicBezTo>
                  <a:pt x="9798381" y="5896841"/>
                  <a:pt x="9531609" y="5936505"/>
                  <a:pt x="9264124" y="5971252"/>
                </a:cubicBezTo>
                <a:cubicBezTo>
                  <a:pt x="9061021" y="5997500"/>
                  <a:pt x="8857919" y="6022219"/>
                  <a:pt x="8654182" y="6042605"/>
                </a:cubicBezTo>
                <a:cubicBezTo>
                  <a:pt x="8416040" y="6065924"/>
                  <a:pt x="8177644" y="6087966"/>
                  <a:pt x="7938866" y="6105677"/>
                </a:cubicBezTo>
                <a:cubicBezTo>
                  <a:pt x="7628862" y="6128611"/>
                  <a:pt x="7318730" y="6146960"/>
                  <a:pt x="7008089" y="6158427"/>
                </a:cubicBezTo>
                <a:cubicBezTo>
                  <a:pt x="6855189" y="6164034"/>
                  <a:pt x="6702290" y="6167984"/>
                  <a:pt x="6549390" y="6172697"/>
                </a:cubicBezTo>
                <a:cubicBezTo>
                  <a:pt x="6510756" y="6170558"/>
                  <a:pt x="6472010" y="6172226"/>
                  <a:pt x="6433696" y="6177668"/>
                </a:cubicBezTo>
                <a:lnTo>
                  <a:pt x="6127899" y="6177668"/>
                </a:lnTo>
                <a:lnTo>
                  <a:pt x="6048391" y="6172953"/>
                </a:lnTo>
                <a:cubicBezTo>
                  <a:pt x="5810377" y="6160212"/>
                  <a:pt x="5572363" y="6146069"/>
                  <a:pt x="5334221" y="6135747"/>
                </a:cubicBezTo>
                <a:cubicBezTo>
                  <a:pt x="5026766" y="6123004"/>
                  <a:pt x="4719692" y="6101983"/>
                  <a:pt x="4413510" y="6072039"/>
                </a:cubicBezTo>
                <a:cubicBezTo>
                  <a:pt x="4088215" y="6040312"/>
                  <a:pt x="3763687" y="6004763"/>
                  <a:pt x="3438265" y="5970870"/>
                </a:cubicBezTo>
                <a:cubicBezTo>
                  <a:pt x="3099935" y="5935704"/>
                  <a:pt x="2762281" y="5895019"/>
                  <a:pt x="2425303" y="5848805"/>
                </a:cubicBezTo>
                <a:cubicBezTo>
                  <a:pt x="2047042" y="5797329"/>
                  <a:pt x="1669936" y="5738080"/>
                  <a:pt x="1293973" y="5671060"/>
                </a:cubicBezTo>
                <a:cubicBezTo>
                  <a:pt x="902168" y="5600534"/>
                  <a:pt x="512942" y="5519976"/>
                  <a:pt x="126888" y="5425029"/>
                </a:cubicBezTo>
                <a:lnTo>
                  <a:pt x="0" y="5392100"/>
                </a:lnTo>
                <a:lnTo>
                  <a:pt x="0" y="5333771"/>
                </a:lnTo>
                <a:lnTo>
                  <a:pt x="130837" y="5368509"/>
                </a:lnTo>
                <a:cubicBezTo>
                  <a:pt x="306720" y="5411799"/>
                  <a:pt x="483287" y="5452095"/>
                  <a:pt x="660204" y="5490001"/>
                </a:cubicBezTo>
                <a:cubicBezTo>
                  <a:pt x="1048569" y="5572948"/>
                  <a:pt x="1439228" y="5643664"/>
                  <a:pt x="1831416" y="5705715"/>
                </a:cubicBezTo>
                <a:cubicBezTo>
                  <a:pt x="2114917" y="5750440"/>
                  <a:pt x="2398801" y="5791595"/>
                  <a:pt x="2677204" y="5825742"/>
                </a:cubicBezTo>
                <a:cubicBezTo>
                  <a:pt x="2669177" y="5828418"/>
                  <a:pt x="2658222" y="5818097"/>
                  <a:pt x="2644716" y="5815549"/>
                </a:cubicBezTo>
                <a:cubicBezTo>
                  <a:pt x="2149740" y="5721171"/>
                  <a:pt x="1659233" y="5607352"/>
                  <a:pt x="1173182" y="5474074"/>
                </a:cubicBezTo>
                <a:cubicBezTo>
                  <a:pt x="940520" y="5410366"/>
                  <a:pt x="709302" y="5342134"/>
                  <a:pt x="479527" y="5269379"/>
                </a:cubicBezTo>
                <a:lnTo>
                  <a:pt x="0" y="510708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9CB8C5-058E-224E-4B75-5500EC3FF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6747"/>
            <a:ext cx="9144000" cy="23876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800">
                <a:solidFill>
                  <a:schemeClr val="bg1"/>
                </a:solidFill>
              </a:rPr>
              <a:t>ML-Process-Prioritizer — Smarter OS Scheduling Using Machine Learning</a:t>
            </a:r>
            <a:endParaRPr lang="en-IN" sz="6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DEFDA-537F-7D0E-420A-99896FBEA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080"/>
            <a:ext cx="9144000" cy="11973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chemeClr val="bg1"/>
                </a:solidFill>
              </a:rPr>
              <a:t>Build a simulation platform that models OS-level process scheduling using real-time </a:t>
            </a:r>
            <a:r>
              <a:rPr lang="en-US" sz="2200" b="1" dirty="0">
                <a:solidFill>
                  <a:schemeClr val="bg1"/>
                </a:solidFill>
              </a:rPr>
              <a:t>machine learning-based priority prediction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Combine intelligent backend logic with a dynamic frontend for live visualization of process execution and resource management.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DCB8EB4B-AFE9-41E8-95B0-F246E5740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650059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3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F5FD7-948B-ACEE-20AA-08A23438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6100"/>
              <a:t>Updated Workflow / Architecture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5894E3"/>
          </a:solidFill>
          <a:ln w="38100" cap="rnd">
            <a:solidFill>
              <a:srgbClr val="5894E3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A8E4F1-0FF1-CBFE-6D7D-7068B2D7AD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694592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Backend (Flask, Python)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Manages simulation and ML-based priority prediction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Trained RandomForest model (via scikit-learn)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Serves JSON data for live UI updates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Frontend (HTML, JS, CSS)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Visual process table &amp; dashboard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Animated state transitions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parameters (aging interval, no. of processes)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Communication:</a:t>
            </a: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REST APIs using Fetch &amp; AJAX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Real-time JSON sync (process_table.json, run_stats.json)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 descr="Digital financial graph">
            <a:extLst>
              <a:ext uri="{FF2B5EF4-FFF2-40B4-BE49-F238E27FC236}">
                <a16:creationId xmlns:a16="http://schemas.microsoft.com/office/drawing/2014/main" id="{D6025A73-68F7-CBD0-DF86-6B302CF2816C}"/>
              </a:ext>
            </a:extLst>
          </p:cNvPr>
          <p:cNvPicPr>
            <a:picLocks noChangeAspect="1"/>
          </p:cNvPicPr>
          <p:nvPr/>
        </p:nvPicPr>
        <p:blipFill>
          <a:blip/>
          <a:srcRect l="38543" r="23257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2552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bot">
            <a:extLst>
              <a:ext uri="{FF2B5EF4-FFF2-40B4-BE49-F238E27FC236}">
                <a16:creationId xmlns:a16="http://schemas.microsoft.com/office/drawing/2014/main" id="{A9DC99D1-9D3A-64CF-517A-32DE2C49D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0C3C0B-16B5-C5EA-A956-AE1EC0BB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638089"/>
            <a:ext cx="5337270" cy="1476801"/>
          </a:xfrm>
        </p:spPr>
        <p:txBody>
          <a:bodyPr anchor="b">
            <a:normAutofit/>
          </a:bodyPr>
          <a:lstStyle/>
          <a:p>
            <a:r>
              <a:rPr lang="en-IN" sz="5600">
                <a:solidFill>
                  <a:srgbClr val="FFFFFF"/>
                </a:solidFill>
              </a:rPr>
              <a:t>Technical Progress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E6E699-7CD7-5B49-6B12-972EB7217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9354" y="2664886"/>
            <a:ext cx="5461095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Machine Learning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Dataset prepared, features engineered: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cpu_util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mem_usage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sys_load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age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Trained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RandomForest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model (90%+ accuracy)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Simulation Engine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Implemented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simulate.py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: state transitions, resource allocation, aging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ML integrated to predict priorities dynamically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Frontend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Real-time dashboard, animated transitions, state cards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Configurable controls (start, parameters)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Backend Integration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Flask API: start/stop simulation, serve data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JSON output for live updates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302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01D63-4230-F2B6-377C-7F4E406F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6100"/>
              <a:t>Screenshots / Code Snippets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3CD3E7"/>
          </a:solidFill>
          <a:ln w="38100" cap="rnd">
            <a:solidFill>
              <a:srgbClr val="3CD3E7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664115-24F9-9D88-6D16-0774CAE09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2861" y="2614835"/>
            <a:ext cx="3080309" cy="3859116"/>
          </a:xfrm>
          <a:prstGeom prst="rect">
            <a:avLst/>
          </a:prstGeom>
        </p:spPr>
      </p:pic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051E7637-370B-2A22-3BE1-D1AEDEF6B3AC}"/>
              </a:ext>
            </a:extLst>
          </p:cNvPr>
          <p:cNvPicPr>
            <a:picLocks noChangeAspect="1"/>
          </p:cNvPicPr>
          <p:nvPr/>
        </p:nvPicPr>
        <p:blipFill>
          <a:blip/>
          <a:srcRect l="29766" r="26262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56E4F4-63EA-B17C-C869-BCD38C759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631" y="2628551"/>
            <a:ext cx="3378861" cy="383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3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A67C17-B621-837D-8DEB-D7073011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IN" sz="6800">
                <a:solidFill>
                  <a:schemeClr val="bg1"/>
                </a:solidFill>
              </a:rPr>
              <a:t>Role-wise Contributions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543C9B-7682-ADD7-346C-52940F19D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323665"/>
              </p:ext>
            </p:extLst>
          </p:nvPr>
        </p:nvGraphicFramePr>
        <p:xfrm>
          <a:off x="0" y="1536192"/>
          <a:ext cx="12192000" cy="53218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1745">
                  <a:extLst>
                    <a:ext uri="{9D8B030D-6E8A-4147-A177-3AD203B41FA5}">
                      <a16:colId xmlns:a16="http://schemas.microsoft.com/office/drawing/2014/main" val="4099593809"/>
                    </a:ext>
                  </a:extLst>
                </a:gridCol>
                <a:gridCol w="6100255">
                  <a:extLst>
                    <a:ext uri="{9D8B030D-6E8A-4147-A177-3AD203B41FA5}">
                      <a16:colId xmlns:a16="http://schemas.microsoft.com/office/drawing/2014/main" val="1862244028"/>
                    </a:ext>
                  </a:extLst>
                </a:gridCol>
              </a:tblGrid>
              <a:tr h="3660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800" b="1" i="0" u="sng" dirty="0">
                          <a:effectLst/>
                        </a:rPr>
                        <a:t>Task Completed</a:t>
                      </a:r>
                      <a:endParaRPr lang="en-IN" sz="1800" b="1" i="0" u="sng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IN" sz="1800" b="1" u="sng" dirty="0">
                          <a:effectLst/>
                        </a:rPr>
                        <a:t>Team Member</a:t>
                      </a:r>
                      <a:endParaRPr lang="en-IN" sz="1800" b="1" u="sng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extLst>
                  <a:ext uri="{0D108BD9-81ED-4DB2-BD59-A6C34878D82A}">
                    <a16:rowId xmlns:a16="http://schemas.microsoft.com/office/drawing/2014/main" val="2810246079"/>
                  </a:ext>
                </a:extLst>
              </a:tr>
              <a:tr h="16185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Machine Learning Model: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1.Designed and implemented the ML pipeline for process priority prediction (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train_priority_model.py</a:t>
                      </a:r>
                      <a:r>
                        <a:rPr lang="en-GB" sz="1400" dirty="0">
                          <a:effectLst/>
                        </a:rPr>
                        <a:t>).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2.Prepared and managed the dataset (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process_data.csv</a:t>
                      </a:r>
                      <a:r>
                        <a:rPr lang="en-GB" sz="1400" dirty="0">
                          <a:effectLst/>
                        </a:rPr>
                        <a:t>), including feature engineering (</a:t>
                      </a:r>
                      <a:r>
                        <a:rPr lang="en-GB" sz="1400" dirty="0" err="1">
                          <a:effectLst/>
                        </a:rPr>
                        <a:t>cpu_util</a:t>
                      </a:r>
                      <a:r>
                        <a:rPr lang="en-GB" sz="1400" dirty="0">
                          <a:effectLst/>
                        </a:rPr>
                        <a:t>, </a:t>
                      </a:r>
                      <a:r>
                        <a:rPr lang="en-GB" sz="1400" dirty="0" err="1">
                          <a:effectLst/>
                        </a:rPr>
                        <a:t>mem_usage</a:t>
                      </a:r>
                      <a:r>
                        <a:rPr lang="en-GB" sz="1400" dirty="0">
                          <a:effectLst/>
                        </a:rPr>
                        <a:t>, </a:t>
                      </a:r>
                      <a:r>
                        <a:rPr lang="en-GB" sz="1400" dirty="0" err="1">
                          <a:effectLst/>
                        </a:rPr>
                        <a:t>sys_load</a:t>
                      </a:r>
                      <a:r>
                        <a:rPr lang="en-GB" sz="1400" dirty="0">
                          <a:effectLst/>
                        </a:rPr>
                        <a:t>, age).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3.Integrated the trained model into the simulation for real-time priority prediction.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4.Simulation Logic: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•Developed core simulation logic in 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simulate.py</a:t>
                      </a:r>
                      <a:r>
                        <a:rPr lang="en-GB" sz="1400" dirty="0">
                          <a:effectLst/>
                        </a:rPr>
                        <a:t>, including process state management, aging, and resource allocation.</a:t>
                      </a:r>
                      <a:endParaRPr lang="en-IN" sz="1400" dirty="0">
                        <a:effectLst/>
                      </a:endParaRPr>
                    </a:p>
                  </a:txBody>
                  <a:tcPr marL="20933" marR="20933" marT="20933" marB="209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600" dirty="0">
                          <a:effectLst/>
                        </a:rPr>
                        <a:t>Aditya Bisht 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extLst>
                  <a:ext uri="{0D108BD9-81ED-4DB2-BD59-A6C34878D82A}">
                    <a16:rowId xmlns:a16="http://schemas.microsoft.com/office/drawing/2014/main" val="1421813332"/>
                  </a:ext>
                </a:extLst>
              </a:tr>
              <a:tr h="109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Frontend &amp; Visualization: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1.Built the live process table and animated visualization in 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visualize.js</a:t>
                      </a:r>
                      <a:r>
                        <a:rPr lang="en-GB" sz="1400" dirty="0">
                          <a:effectLst/>
                        </a:rPr>
                        <a:t> and 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main.js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2.Implemented real-time updates and smooth transitions for process states (WAITING, RUNNING, FINISHED).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3.Ensured user interactions (starting simulation, adjusting parameters) are intuitive and responsive.</a:t>
                      </a:r>
                      <a:endParaRPr lang="en-IN" sz="1400" dirty="0">
                        <a:effectLst/>
                      </a:endParaRPr>
                    </a:p>
                  </a:txBody>
                  <a:tcPr marL="20933" marR="20933" marT="20933" marB="209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600" dirty="0">
                          <a:effectLst/>
                        </a:rPr>
                        <a:t>Hirdyanshu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extLst>
                  <a:ext uri="{0D108BD9-81ED-4DB2-BD59-A6C34878D82A}">
                    <a16:rowId xmlns:a16="http://schemas.microsoft.com/office/drawing/2014/main" val="2404898609"/>
                  </a:ext>
                </a:extLst>
              </a:tr>
              <a:tr h="1099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Flask Server &amp; API: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1.Developed the Flask backend in </a:t>
                      </a:r>
                      <a:r>
                        <a:rPr lang="en-GB" sz="1400" u="none" strike="noStrike" dirty="0">
                          <a:effectLst/>
                          <a:hlinkClick r:id="rId2"/>
                        </a:rPr>
                        <a:t>server.py</a:t>
                      </a:r>
                      <a:r>
                        <a:rPr lang="en-GB" sz="1400" dirty="0">
                          <a:effectLst/>
                        </a:rPr>
                        <a:t> to manage simulation processes and serve static files.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2.Handled API endpoints for starting simulations and serving data to the frontend.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3.Managed process lifecycle (starting, terminating simulations) and ensured robust backend operation.</a:t>
                      </a:r>
                      <a:endParaRPr lang="en-IN" sz="1400" dirty="0">
                        <a:effectLst/>
                      </a:endParaRPr>
                    </a:p>
                  </a:txBody>
                  <a:tcPr marL="20933" marR="20933" marT="20933" marB="209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600" dirty="0">
                          <a:effectLst/>
                        </a:rPr>
                        <a:t>Samarth </a:t>
                      </a:r>
                      <a:r>
                        <a:rPr lang="en-GB" sz="1600" dirty="0" err="1">
                          <a:effectLst/>
                        </a:rPr>
                        <a:t>Jasta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extLst>
                  <a:ext uri="{0D108BD9-81ED-4DB2-BD59-A6C34878D82A}">
                    <a16:rowId xmlns:a16="http://schemas.microsoft.com/office/drawing/2014/main" val="3115144046"/>
                  </a:ext>
                </a:extLst>
              </a:tr>
              <a:tr h="11374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HTML AND CSS: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1.Developed </a:t>
                      </a:r>
                      <a:r>
                        <a:rPr lang="en-GB" sz="1400" dirty="0" err="1">
                          <a:effectLst/>
                        </a:rPr>
                        <a:t>index.html</a:t>
                      </a:r>
                      <a:r>
                        <a:rPr lang="en-GB" sz="1400" dirty="0">
                          <a:effectLst/>
                        </a:rPr>
                        <a:t> file for basic structure or skeleton of UI.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2.Added basic styling like colours, fonts, or spacing in the CSS to make the dashboard look cleaner and more readable.</a:t>
                      </a:r>
                      <a:endParaRPr lang="en-IN" sz="1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3. Write or improve the README section about the UI.</a:t>
                      </a:r>
                      <a:r>
                        <a:rPr lang="en-IN" sz="1400" dirty="0">
                          <a:effectLst/>
                        </a:rPr>
                        <a:t> </a:t>
                      </a:r>
                      <a:endParaRPr lang="en-IN" sz="1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600" dirty="0">
                          <a:effectLst/>
                        </a:rPr>
                        <a:t>Himakshi Bhakuni</a:t>
                      </a:r>
                      <a:endParaRPr lang="en-IN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Cambria" panose="02040503050406030204" pitchFamily="18" charset="0"/>
                      </a:endParaRPr>
                    </a:p>
                  </a:txBody>
                  <a:tcPr marL="20933" marR="20933" marT="20933" marB="20933"/>
                </a:tc>
                <a:extLst>
                  <a:ext uri="{0D108BD9-81ED-4DB2-BD59-A6C34878D82A}">
                    <a16:rowId xmlns:a16="http://schemas.microsoft.com/office/drawing/2014/main" val="4136259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4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Laptop Secure">
            <a:extLst>
              <a:ext uri="{FF2B5EF4-FFF2-40B4-BE49-F238E27FC236}">
                <a16:creationId xmlns:a16="http://schemas.microsoft.com/office/drawing/2014/main" id="{5C2A9C8F-DD64-25CD-3BC0-44B044D34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BBE76-55E7-99C3-5B91-35FC90F8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638089"/>
            <a:ext cx="5337270" cy="1476801"/>
          </a:xfrm>
        </p:spPr>
        <p:txBody>
          <a:bodyPr anchor="b">
            <a:normAutofit/>
          </a:bodyPr>
          <a:lstStyle/>
          <a:p>
            <a:r>
              <a:rPr lang="en-IN" sz="5600">
                <a:solidFill>
                  <a:srgbClr val="FFFFFF"/>
                </a:solidFill>
              </a:rPr>
              <a:t>Testing &amp; Challenges</a:t>
            </a: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052DBC-570F-AFFE-128A-722BEDF0D2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59354" y="2664886"/>
            <a:ext cx="5461095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Tests Passed: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ML model validation – 90%+ accuracy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UI/UX functionality – manual validation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Backend-to-Frontend sync via JSON – working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Challenges Solved: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ES module issue with visualize.js and main.js (resolved by converting to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&lt;script type="module"&gt;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DOM loading sequence fixed for live updates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119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omment Urgent">
            <a:extLst>
              <a:ext uri="{FF2B5EF4-FFF2-40B4-BE49-F238E27FC236}">
                <a16:creationId xmlns:a16="http://schemas.microsoft.com/office/drawing/2014/main" id="{4FDE796C-DBC3-632E-848B-24CB5D7F7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90577-268C-18E3-104B-A99C9A56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354" y="638089"/>
            <a:ext cx="5337270" cy="1476801"/>
          </a:xfrm>
        </p:spPr>
        <p:txBody>
          <a:bodyPr anchor="b">
            <a:normAutofit/>
          </a:bodyPr>
          <a:lstStyle/>
          <a:p>
            <a:r>
              <a:rPr lang="en-IN" sz="5200">
                <a:solidFill>
                  <a:srgbClr val="FFFFFF"/>
                </a:solidFill>
              </a:rPr>
              <a:t>What's Next &amp; Final Status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6304" y="2368177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76C4-E6D2-D647-9F92-B2A7A7AF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9354" y="2664886"/>
            <a:ext cx="5461095" cy="3550789"/>
          </a:xfrm>
        </p:spPr>
        <p:txBody>
          <a:bodyPr anchor="t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 Core system complete — ML model + simulation + UI</a:t>
            </a:r>
            <a:br>
              <a:rPr lang="en-IN" dirty="0">
                <a:solidFill>
                  <a:srgbClr val="FFFFFF"/>
                </a:solidFill>
              </a:rPr>
            </a:br>
            <a:r>
              <a:rPr lang="en-IN" dirty="0">
                <a:solidFill>
                  <a:srgbClr val="FFFFFF"/>
                </a:solidFill>
              </a:rPr>
              <a:t> JSON sync, state transitions, dashboard working</a:t>
            </a:r>
            <a:br>
              <a:rPr lang="en-IN" dirty="0">
                <a:solidFill>
                  <a:srgbClr val="FFFFFF"/>
                </a:solidFill>
              </a:rPr>
            </a:br>
            <a:r>
              <a:rPr lang="en-IN" dirty="0">
                <a:solidFill>
                  <a:srgbClr val="FFFFFF"/>
                </a:solidFill>
              </a:rPr>
              <a:t> Round Robin scheduling, Gantt chart (stretch goals)</a:t>
            </a:r>
            <a:br>
              <a:rPr lang="en-IN" dirty="0">
                <a:solidFill>
                  <a:srgbClr val="FFFFFF"/>
                </a:solidFill>
              </a:rPr>
            </a:br>
            <a:r>
              <a:rPr lang="en-IN" dirty="0">
                <a:solidFill>
                  <a:srgbClr val="FFFFFF"/>
                </a:solidFill>
              </a:rPr>
              <a:t> More visual analytics, multi-core simulation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6436237" y="1971579"/>
              <a:ext cx="360" cy="2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8237" y="1956150"/>
                <a:ext cx="36000" cy="327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104531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596</Words>
  <Application>Microsoft Macintosh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 Unicode MS</vt:lpstr>
      <vt:lpstr>Arial</vt:lpstr>
      <vt:lpstr>Cambria</vt:lpstr>
      <vt:lpstr>The Hand Bold</vt:lpstr>
      <vt:lpstr>The Serif Hand Black</vt:lpstr>
      <vt:lpstr>SketchyVTI</vt:lpstr>
      <vt:lpstr>ML-Process-Prioritizer — Smarter OS Scheduling Using Machine Learning</vt:lpstr>
      <vt:lpstr>Updated Workflow / Architecture</vt:lpstr>
      <vt:lpstr>Technical Progress</vt:lpstr>
      <vt:lpstr>Screenshots / Code Snippets</vt:lpstr>
      <vt:lpstr>Role-wise Contributions</vt:lpstr>
      <vt:lpstr>Testing &amp; Challenges</vt:lpstr>
      <vt:lpstr>What's Next &amp; Final Status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Singh Bisht</dc:creator>
  <cp:lastModifiedBy>Hirdyanshu</cp:lastModifiedBy>
  <cp:revision>3</cp:revision>
  <dcterms:created xsi:type="dcterms:W3CDTF">2025-05-20T04:35:04Z</dcterms:created>
  <dcterms:modified xsi:type="dcterms:W3CDTF">2025-05-20T20:15:08Z</dcterms:modified>
</cp:coreProperties>
</file>